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30711"/>
              </a:gs>
              <a:gs pos="100000">
                <a:srgbClr val="0E152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382000" y="-762000"/>
            <a:ext cx="4191000" cy="4191000"/>
          </a:xfrm>
          <a:prstGeom prst="ellipse">
            <a:avLst/>
          </a:prstGeom>
          <a:solidFill>
            <a:srgbClr val="00D9FF">
              <a:alpha val="8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381000" y="3619500"/>
            <a:ext cx="3429000" cy="3429000"/>
          </a:xfrm>
          <a:prstGeom prst="ellipse">
            <a:avLst/>
          </a:prstGeom>
          <a:solidFill>
            <a:srgbClr val="6366F1">
              <a:alpha val="1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762000" y="742950"/>
            <a:ext cx="571500" cy="57150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46760" y="1108710"/>
            <a:ext cx="23000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VIZ-DECK · LAYOUT GALLERY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1040" y="2148840"/>
            <a:ext cx="12414656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Eight layouts, one design language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5330" y="3392805"/>
            <a:ext cx="873309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Every pptx-deck layout demonstrated in one editable file.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5905500"/>
            <a:ext cx="1066800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6760" y="6156960"/>
            <a:ext cx="244906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ZimaBlueAI · viz-deck mode 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29188" y="615696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v0.3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30711"/>
              </a:gs>
              <a:gs pos="100000">
                <a:srgbClr val="0E1525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742950"/>
            <a:ext cx="571500" cy="57150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46760" y="1108710"/>
            <a:ext cx="14588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WHAT YOU'LL SEE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8660" y="1451610"/>
            <a:ext cx="996111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Layout · description · best use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5330" y="2535555"/>
            <a:ext cx="32707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03985" y="2551748"/>
            <a:ext cx="370917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title-cover — opening slide</a:t>
            </a:r>
          </a:p>
        </p:txBody>
      </p:sp>
      <p:sp>
        <p:nvSpPr>
          <p:cNvPr id="8" name="Line 8"/>
          <p:cNvSpPr/>
          <p:nvPr/>
        </p:nvSpPr>
        <p:spPr>
          <a:xfrm>
            <a:off x="762000" y="29146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735330" y="306895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03985" y="3085148"/>
            <a:ext cx="319654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agenda — numbered list</a:t>
            </a:r>
          </a:p>
        </p:txBody>
      </p:sp>
      <p:sp>
        <p:nvSpPr>
          <p:cNvPr id="11" name="Line 11"/>
          <p:cNvSpPr/>
          <p:nvPr/>
        </p:nvSpPr>
        <p:spPr>
          <a:xfrm>
            <a:off x="762000" y="34480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735330" y="360235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03985" y="3618548"/>
            <a:ext cx="447813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section-divider — chapter break</a:t>
            </a:r>
          </a:p>
        </p:txBody>
      </p:sp>
      <p:sp>
        <p:nvSpPr>
          <p:cNvPr id="14" name="Line 14"/>
          <p:cNvSpPr/>
          <p:nvPr/>
        </p:nvSpPr>
        <p:spPr>
          <a:xfrm>
            <a:off x="762000" y="39814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735330" y="413575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04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03985" y="4151948"/>
            <a:ext cx="528980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title-bullets — standard content slide</a:t>
            </a:r>
          </a:p>
        </p:txBody>
      </p:sp>
      <p:sp>
        <p:nvSpPr>
          <p:cNvPr id="17" name="Line 17"/>
          <p:cNvSpPr/>
          <p:nvPr/>
        </p:nvSpPr>
        <p:spPr>
          <a:xfrm>
            <a:off x="762000" y="45148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735330" y="466915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05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03985" y="4685348"/>
            <a:ext cx="464901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two-column — left/right compare</a:t>
            </a:r>
          </a:p>
        </p:txBody>
      </p:sp>
      <p:sp>
        <p:nvSpPr>
          <p:cNvPr id="20" name="Line 20"/>
          <p:cNvSpPr/>
          <p:nvPr/>
        </p:nvSpPr>
        <p:spPr>
          <a:xfrm>
            <a:off x="762000" y="50482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35330" y="520255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06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03985" y="5218748"/>
            <a:ext cx="369493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kpi-grid — 3–9 metric tiles</a:t>
            </a:r>
          </a:p>
        </p:txBody>
      </p:sp>
      <p:sp>
        <p:nvSpPr>
          <p:cNvPr id="23" name="Line 23"/>
          <p:cNvSpPr/>
          <p:nvPr/>
        </p:nvSpPr>
        <p:spPr>
          <a:xfrm>
            <a:off x="762000" y="55816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735330" y="573595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07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03985" y="5752148"/>
            <a:ext cx="400821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pullquote — attributed quote</a:t>
            </a:r>
          </a:p>
        </p:txBody>
      </p:sp>
      <p:sp>
        <p:nvSpPr>
          <p:cNvPr id="26" name="Line 26"/>
          <p:cNvSpPr/>
          <p:nvPr/>
        </p:nvSpPr>
        <p:spPr>
          <a:xfrm>
            <a:off x="762000" y="61150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735330" y="626935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08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03985" y="6285548"/>
            <a:ext cx="416485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closing — thank-you / contact</a:t>
            </a:r>
          </a:p>
        </p:txBody>
      </p:sp>
      <p:sp>
        <p:nvSpPr>
          <p:cNvPr id="29" name="Line 29"/>
          <p:cNvSpPr/>
          <p:nvPr/>
        </p:nvSpPr>
        <p:spPr>
          <a:xfrm>
            <a:off x="762000" y="66484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30711"/>
              </a:gs>
              <a:gs pos="100000">
                <a:srgbClr val="0E1525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3419475"/>
            <a:ext cx="12192000" cy="190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143500" y="3419475"/>
            <a:ext cx="1905000" cy="19050"/>
          </a:xfrm>
          <a:prstGeom prst="rect">
            <a:avLst/>
          </a:prstGeom>
          <a:solidFill>
            <a:srgbClr val="00D9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077039" y="1438275"/>
            <a:ext cx="2037921" cy="213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0" b="1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219611" y="3930015"/>
            <a:ext cx="375277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Section divider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54091" y="4600575"/>
            <a:ext cx="768381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A chapter break — use 3 to 5 per deck so structure is visible at a glance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30711"/>
              </a:gs>
              <a:gs pos="100000">
                <a:srgbClr val="0E1525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742950"/>
            <a:ext cx="571500" cy="57150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48665" y="1124902"/>
            <a:ext cx="16675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TITLE-BULLETS LAYOUT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1995" y="1374458"/>
            <a:ext cx="10538267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Three to six points, with optional sub-notes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2950" y="2028825"/>
            <a:ext cx="160415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Use for the workhorse content slide — when you have a thesis sentence and 3–6 supporting points. Sub-notes shrink the cognitive load on each bullet.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27241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00D9F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26795" y="2774632"/>
            <a:ext cx="405426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Bullet text uses 22 pt body weight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2510" y="3070860"/>
            <a:ext cx="34392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sub-note in muted 16 pt under the bullet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62000" y="33909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00D9F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26795" y="3441382"/>
            <a:ext cx="322287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Maximum 6 bullets per slide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2510" y="3737610"/>
            <a:ext cx="29485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more than 6 → split into two slides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40576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00D9FF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026795" y="4108132"/>
            <a:ext cx="486156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Bullets should be sentences, not phrases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2510" y="4404360"/>
            <a:ext cx="343052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fragments force the reader to fill gaps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62000" y="47244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00D9FF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026795" y="4774882"/>
            <a:ext cx="513869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Lead line above is your one-sentence thesis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2510" y="5071110"/>
            <a:ext cx="457847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if you cut the bullets, the lead must still stand alone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30711"/>
              </a:gs>
              <a:gs pos="100000">
                <a:srgbClr val="0E1525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742950"/>
            <a:ext cx="571500" cy="57150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48665" y="1124902"/>
            <a:ext cx="15755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TWO-COLUMN LAYOUT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5805" y="1406842"/>
            <a:ext cx="10430585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When you need an explicit compare-and-contrast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381250"/>
            <a:ext cx="4953000" cy="3810000"/>
          </a:xfrm>
          <a:prstGeom prst="roundRect">
            <a:avLst>
              <a:gd name="adj" fmla="val 2000"/>
            </a:avLst>
          </a:prstGeom>
          <a:solidFill>
            <a:srgbClr val="141B2D">
              <a:alpha val="60000"/>
            </a:srgbClr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2381250"/>
            <a:ext cx="38100" cy="3810000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67740" y="2663190"/>
            <a:ext cx="149490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Status quo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5360" y="3108960"/>
            <a:ext cx="18268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What today looks like</a:t>
            </a:r>
          </a:p>
        </p:txBody>
      </p:sp>
      <p:sp>
        <p:nvSpPr>
          <p:cNvPr id="10" name="Rectangle 10"/>
          <p:cNvSpPr/>
          <p:nvPr/>
        </p:nvSpPr>
        <p:spPr>
          <a:xfrm>
            <a:off x="990600" y="3562350"/>
            <a:ext cx="57150" cy="57150"/>
          </a:xfrm>
          <a:prstGeom prst="rect">
            <a:avLst/>
          </a:prstGeom>
          <a:solidFill>
            <a:srgbClr val="00D9F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125855" y="3569018"/>
            <a:ext cx="21144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Up to 4 items per side</a:t>
            </a:r>
          </a:p>
        </p:txBody>
      </p:sp>
      <p:sp>
        <p:nvSpPr>
          <p:cNvPr id="12" name="Rectangle 12"/>
          <p:cNvSpPr/>
          <p:nvPr/>
        </p:nvSpPr>
        <p:spPr>
          <a:xfrm>
            <a:off x="990600" y="3981450"/>
            <a:ext cx="57150" cy="57150"/>
          </a:xfrm>
          <a:prstGeom prst="rect">
            <a:avLst/>
          </a:prstGeom>
          <a:solidFill>
            <a:srgbClr val="00D9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125855" y="3988118"/>
            <a:ext cx="365231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Side headings stay short (≤ 24 chars)</a:t>
            </a:r>
          </a:p>
        </p:txBody>
      </p:sp>
      <p:sp>
        <p:nvSpPr>
          <p:cNvPr id="14" name="Rectangle 14"/>
          <p:cNvSpPr/>
          <p:nvPr/>
        </p:nvSpPr>
        <p:spPr>
          <a:xfrm>
            <a:off x="990600" y="4400550"/>
            <a:ext cx="57150" cy="57150"/>
          </a:xfrm>
          <a:prstGeom prst="rect">
            <a:avLst/>
          </a:prstGeom>
          <a:solidFill>
            <a:srgbClr val="00D9F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125855" y="4407218"/>
            <a:ext cx="33565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Subheading gives temporal context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90600" y="4819650"/>
            <a:ext cx="57150" cy="57150"/>
          </a:xfrm>
          <a:prstGeom prst="rect">
            <a:avLst/>
          </a:prstGeom>
          <a:solidFill>
            <a:srgbClr val="00D9FF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125855" y="4826318"/>
            <a:ext cx="31988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Use bullet items, not paragraphs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477000" y="2381250"/>
            <a:ext cx="4953000" cy="3810000"/>
          </a:xfrm>
          <a:prstGeom prst="roundRect">
            <a:avLst>
              <a:gd name="adj" fmla="val 2000"/>
            </a:avLst>
          </a:prstGeom>
          <a:solidFill>
            <a:srgbClr val="141B2D">
              <a:alpha val="60000"/>
            </a:srgbClr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6477000" y="2381250"/>
            <a:ext cx="38100" cy="3810000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682740" y="2663190"/>
            <a:ext cx="12602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Proposed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90360" y="3108960"/>
            <a:ext cx="1800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What we're choosing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705600" y="3562350"/>
            <a:ext cx="57150" cy="57150"/>
          </a:xfrm>
          <a:prstGeom prst="rect">
            <a:avLst/>
          </a:prstGeom>
          <a:solidFill>
            <a:srgbClr val="00D9FF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840855" y="3569018"/>
            <a:ext cx="291293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Same item count on both sides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705600" y="3981450"/>
            <a:ext cx="57150" cy="57150"/>
          </a:xfrm>
          <a:prstGeom prst="rect">
            <a:avLst/>
          </a:prstGeom>
          <a:solidFill>
            <a:srgbClr val="00D9FF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840855" y="3988118"/>
            <a:ext cx="373118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Pair items by row — visual scan rhythm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705600" y="4400550"/>
            <a:ext cx="57150" cy="57150"/>
          </a:xfrm>
          <a:prstGeom prst="rect">
            <a:avLst/>
          </a:prstGeom>
          <a:solidFill>
            <a:srgbClr val="00D9FF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840855" y="4407218"/>
            <a:ext cx="336642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Each row should be a real contrast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705600" y="4819650"/>
            <a:ext cx="57150" cy="57150"/>
          </a:xfrm>
          <a:prstGeom prst="rect">
            <a:avLst/>
          </a:prstGeom>
          <a:solidFill>
            <a:srgbClr val="00D9FF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840855" y="4826318"/>
            <a:ext cx="35537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Color the accent bar only on one side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30711"/>
              </a:gs>
              <a:gs pos="100000">
                <a:srgbClr val="0E1525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742950"/>
            <a:ext cx="571500" cy="57150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48665" y="1124902"/>
            <a:ext cx="11691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KPI GRID LAYOUT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5805" y="1406842"/>
            <a:ext cx="981870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Three to nine metric tiles in a responsive grid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381250"/>
            <a:ext cx="3403600" cy="1714500"/>
          </a:xfrm>
          <a:prstGeom prst="roundRect">
            <a:avLst>
              <a:gd name="adj" fmla="val 4444"/>
            </a:avLst>
          </a:prstGeom>
          <a:solidFill>
            <a:srgbClr val="141B2D">
              <a:alpha val="70000"/>
            </a:srgbClr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2381250"/>
            <a:ext cx="38100" cy="1714500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77265" y="2648902"/>
            <a:ext cx="14145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Active workspaces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8690" y="2929890"/>
            <a:ext cx="1627313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12,847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5360" y="3737610"/>
            <a:ext cx="8677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0B981"/>
                </a:solidFill>
                <a:latin typeface="Inter"/>
                <a:ea typeface="Microsoft YaHei"/>
                <a:cs typeface="Inter"/>
              </a:rPr>
              <a:t>+38% QoQ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13265" y="3761899"/>
            <a:ext cx="9361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ahead of plan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394200" y="2381250"/>
            <a:ext cx="3403600" cy="1714500"/>
          </a:xfrm>
          <a:prstGeom prst="roundRect">
            <a:avLst>
              <a:gd name="adj" fmla="val 4444"/>
            </a:avLst>
          </a:prstGeom>
          <a:solidFill>
            <a:srgbClr val="141B2D">
              <a:alpha val="70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4394200" y="2381250"/>
            <a:ext cx="38100" cy="1714500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609465" y="264890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ARPU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80890" y="2929890"/>
            <a:ext cx="6404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48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099050" y="3124200"/>
            <a:ext cx="44338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/mo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07560" y="3737610"/>
            <a:ext cx="4905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0B981"/>
                </a:solidFill>
                <a:latin typeface="Inter"/>
                <a:ea typeface="Microsoft YaHei"/>
                <a:cs typeface="Inter"/>
              </a:rPr>
              <a:t>+1.2%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51944" y="3761899"/>
            <a:ext cx="7296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below plan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026400" y="2381250"/>
            <a:ext cx="3403600" cy="1714500"/>
          </a:xfrm>
          <a:prstGeom prst="roundRect">
            <a:avLst>
              <a:gd name="adj" fmla="val 4444"/>
            </a:avLst>
          </a:prstGeom>
          <a:solidFill>
            <a:srgbClr val="141B2D">
              <a:alpha val="70000"/>
            </a:srgbClr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8026400" y="2381250"/>
            <a:ext cx="38100" cy="1714500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241665" y="2648902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Logo churn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13090" y="2929890"/>
            <a:ext cx="79230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2.1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978900" y="3124200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39760" y="3737610"/>
            <a:ext cx="63775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F4444"/>
                </a:solidFill>
                <a:latin typeface="Inter"/>
                <a:ea typeface="Microsoft YaHei"/>
                <a:cs typeface="Inter"/>
              </a:rPr>
              <a:t>-0.3pp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519743" y="3761899"/>
            <a:ext cx="6940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best ever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62000" y="4324350"/>
            <a:ext cx="3403600" cy="1714500"/>
          </a:xfrm>
          <a:prstGeom prst="roundRect">
            <a:avLst>
              <a:gd name="adj" fmla="val 4444"/>
            </a:avLst>
          </a:prstGeom>
          <a:solidFill>
            <a:srgbClr val="141B2D">
              <a:alpha val="70000"/>
            </a:srgbClr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762000" y="4324350"/>
            <a:ext cx="38100" cy="1714500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77265" y="4592002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NPS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8690" y="4872990"/>
            <a:ext cx="6404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62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5360" y="5680710"/>
            <a:ext cx="2329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0B981"/>
                </a:solidFill>
                <a:latin typeface="Inter"/>
                <a:ea typeface="Microsoft YaHei"/>
                <a:cs typeface="Inter"/>
              </a:rPr>
              <a:t>+4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105825" y="5704999"/>
            <a:ext cx="8435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world-class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394200" y="4324350"/>
            <a:ext cx="3403600" cy="1714500"/>
          </a:xfrm>
          <a:prstGeom prst="roundRect">
            <a:avLst>
              <a:gd name="adj" fmla="val 4444"/>
            </a:avLst>
          </a:prstGeom>
          <a:solidFill>
            <a:srgbClr val="141B2D">
              <a:alpha val="70000"/>
            </a:srgbClr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4394200" y="4324350"/>
            <a:ext cx="38100" cy="1714500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4609465" y="459200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Gross margin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580890" y="4872990"/>
            <a:ext cx="51397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71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099050" y="5067300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607560" y="5680710"/>
            <a:ext cx="4353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0B981"/>
                </a:solidFill>
                <a:latin typeface="Inter"/>
                <a:ea typeface="Microsoft YaHei"/>
                <a:cs typeface="Inter"/>
              </a:rPr>
              <a:t>+2pp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645466" y="5704999"/>
            <a:ext cx="9361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infra savings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026400" y="4324350"/>
            <a:ext cx="3403600" cy="1714500"/>
          </a:xfrm>
          <a:prstGeom prst="roundRect">
            <a:avLst>
              <a:gd name="adj" fmla="val 4444"/>
            </a:avLst>
          </a:prstGeom>
          <a:solidFill>
            <a:srgbClr val="141B2D">
              <a:alpha val="70000"/>
            </a:srgbClr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8026400" y="4324350"/>
            <a:ext cx="38100" cy="1714500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241665" y="45920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Cash runway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213090" y="4872990"/>
            <a:ext cx="6404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26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731250" y="5067300"/>
            <a:ext cx="32289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mo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239760" y="5680710"/>
            <a:ext cx="47213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0B981"/>
                </a:solidFill>
                <a:latin typeface="Inter"/>
                <a:ea typeface="Microsoft YaHei"/>
                <a:cs typeface="Inter"/>
              </a:rPr>
              <a:t>+3mo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363105" y="5704999"/>
            <a:ext cx="8506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post-bridge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30711"/>
              </a:gs>
              <a:gs pos="100000">
                <a:srgbClr val="0E1525"/>
              </a:gs>
            </a:gsLst>
            <a:lin ang="27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52500" y="381000"/>
            <a:ext cx="1646158" cy="304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0" b="1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“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5053870" y="3121342"/>
            <a:ext cx="2229974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A slide deck is the worst possible artifact — except for every other artifact stakeholders will actually open.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0" y="4953000"/>
            <a:ext cx="762000" cy="19050"/>
          </a:xfrm>
          <a:prstGeom prst="rect">
            <a:avLst/>
          </a:prstGeom>
          <a:solidFill>
            <a:srgbClr val="00D9FF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981575" y="5267325"/>
            <a:ext cx="22288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Pulse industry truth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37639" y="5620702"/>
            <a:ext cx="31167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Said by every CTO at every board meeting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30711"/>
              </a:gs>
              <a:gs pos="100000">
                <a:srgbClr val="0E152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3810000" y="571500"/>
            <a:ext cx="4572000" cy="4572000"/>
          </a:xfrm>
          <a:prstGeom prst="ellipse">
            <a:avLst/>
          </a:prstGeom>
          <a:noFill/>
          <a:ln w="19050">
            <a:solidFill>
              <a:srgbClr val="00D9FF">
                <a:alpha val="40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4572000" y="1333500"/>
            <a:ext cx="3048000" cy="3048000"/>
          </a:xfrm>
          <a:prstGeom prst="ellipse">
            <a:avLst/>
          </a:prstGeom>
          <a:noFill/>
          <a:ln w="19050">
            <a:solidFill>
              <a:srgbClr val="00D9FF">
                <a:alpha val="60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5334000" y="2095500"/>
            <a:ext cx="1524000" cy="1524000"/>
          </a:xfrm>
          <a:prstGeom prst="ellipse">
            <a:avLst/>
          </a:prstGeom>
          <a:solidFill>
            <a:srgbClr val="00D9FF">
              <a:alpha val="15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649017" y="2529840"/>
            <a:ext cx="6893966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E5E7EB"/>
                </a:solidFill>
                <a:latin typeface="Inter"/>
                <a:ea typeface="Microsoft YaHei"/>
                <a:cs typeface="Inter"/>
              </a:rPr>
              <a:t>That's the full set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21042" y="3552825"/>
            <a:ext cx="69499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4A3B8"/>
                </a:solidFill>
                <a:latin typeface="Inter"/>
                <a:ea typeface="Microsoft YaHei"/>
                <a:cs typeface="Inter"/>
              </a:rPr>
              <a:t>Eight layouts. One JSON spec format. Native DrawingML output.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06500" y="4616768"/>
            <a:ext cx="45790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spec: templates/pptx-deck-spec.example.json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28313" y="4921568"/>
            <a:ext cx="41353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docs: references/pptx-master-bridge.md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54375" y="5226368"/>
            <a:ext cx="42832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00D9FF"/>
                </a:solidFill>
                <a:latin typeface="Inter"/>
                <a:ea typeface="Microsoft YaHei"/>
                <a:cs typeface="Inter"/>
              </a:rPr>
              <a:t>issues: github.com/ZimaBlueAI/skills/issues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