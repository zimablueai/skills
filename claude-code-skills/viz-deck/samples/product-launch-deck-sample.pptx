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6366F1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81000" y="3619500"/>
            <a:ext cx="3429000" cy="3429000"/>
          </a:xfrm>
          <a:prstGeom prst="ellipse">
            <a:avLst/>
          </a:prstGeom>
          <a:solidFill>
            <a:srgbClr val="06B6D4">
              <a:alpha val="10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46760" y="1108710"/>
            <a:ext cx="308000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MINGJING · PUBLIC LAUNCH · MAY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1040" y="2148840"/>
            <a:ext cx="1594789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Inspection that thinks like a senior engineer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5330" y="3392805"/>
            <a:ext cx="756761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GA today. Free tier live. Three integrations open.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5905500"/>
            <a:ext cx="10668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6760" y="6156960"/>
            <a:ext cx="20810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Mingjing AI · launch desk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52379" y="61569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May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6760" y="1108710"/>
            <a:ext cx="6088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AGENDA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8660" y="1451610"/>
            <a:ext cx="951025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Twelve minutes, five sections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5330" y="25355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3985" y="2551748"/>
            <a:ext cx="264118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Who we built it for</a:t>
            </a:r>
          </a:p>
        </p:txBody>
      </p:sp>
      <p:sp>
        <p:nvSpPr>
          <p:cNvPr id="8" name="Line 8"/>
          <p:cNvSpPr/>
          <p:nvPr/>
        </p:nvSpPr>
        <p:spPr>
          <a:xfrm>
            <a:off x="762000" y="29146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735330" y="30689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3985" y="3085148"/>
            <a:ext cx="4050935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What the product does today</a:t>
            </a:r>
          </a:p>
        </p:txBody>
      </p:sp>
      <p:sp>
        <p:nvSpPr>
          <p:cNvPr id="11" name="Line 11"/>
          <p:cNvSpPr/>
          <p:nvPr/>
        </p:nvSpPr>
        <p:spPr>
          <a:xfrm>
            <a:off x="762000" y="34480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35330" y="36023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3985" y="3618548"/>
            <a:ext cx="537524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The thinking, not just the feature list</a:t>
            </a:r>
          </a:p>
        </p:txBody>
      </p:sp>
      <p:sp>
        <p:nvSpPr>
          <p:cNvPr id="14" name="Line 14"/>
          <p:cNvSpPr/>
          <p:nvPr/>
        </p:nvSpPr>
        <p:spPr>
          <a:xfrm>
            <a:off x="762000" y="39814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35330" y="41357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03985" y="4151948"/>
            <a:ext cx="4193334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Numbers from the closed beta</a:t>
            </a:r>
          </a:p>
        </p:txBody>
      </p:sp>
      <p:sp>
        <p:nvSpPr>
          <p:cNvPr id="17" name="Line 17"/>
          <p:cNvSpPr/>
          <p:nvPr/>
        </p:nvSpPr>
        <p:spPr>
          <a:xfrm>
            <a:off x="762000" y="45148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735330" y="46691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3985" y="4685348"/>
            <a:ext cx="39797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Five-minute getting started</a:t>
            </a:r>
          </a:p>
        </p:txBody>
      </p:sp>
      <p:sp>
        <p:nvSpPr>
          <p:cNvPr id="20" name="Line 20"/>
          <p:cNvSpPr/>
          <p:nvPr/>
        </p:nvSpPr>
        <p:spPr>
          <a:xfrm>
            <a:off x="762000" y="5048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278314" y="1438275"/>
            <a:ext cx="163537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51502" y="3930015"/>
            <a:ext cx="4688996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Who we built it for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46258" y="4600575"/>
            <a:ext cx="3499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Three personas, one shared pain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7320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PERSONAS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995" y="1374458"/>
            <a:ext cx="1145608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The senior engineer's review queue is unbounded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2028825"/>
            <a:ext cx="158991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Mingjing was designed for the people who currently absorb the cost of slow, manual reviews — not for greenfield projects with budget to hire more.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7241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795" y="2774632"/>
            <a:ext cx="60423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Senior backend leads doing 30+ PR reviews per week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70860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drowning in context-switching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390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6795" y="3441382"/>
            <a:ext cx="69942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Tech-debt focused teams with a 6-month migration backlog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10" y="3737610"/>
            <a:ext cx="20196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needs depth, not speed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057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6795" y="4108132"/>
            <a:ext cx="62110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Compliance-mandated code review (FinTech / Health)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44043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needs audit trail, not just speed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77039" y="143827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98996" y="3930015"/>
            <a:ext cx="71940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What the product does today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03482" y="4600575"/>
            <a:ext cx="21850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Five capabilities, GA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HOW MINGJING THINKS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1056170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Sentence-level rules vs trajectory-aware review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F3F4F6">
              <a:alpha val="6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67740" y="2663190"/>
            <a:ext cx="2640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Most linters / SAST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5360" y="3108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Sentence-level rules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90600" y="35623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5855" y="3569018"/>
            <a:ext cx="46085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Flags exact patterns (unused var, var-naming)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90600" y="39814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25855" y="398811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Misses architecture-level smells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90600" y="44005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25855" y="4407218"/>
            <a:ext cx="44015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Drowns reviewer in noise (60% false positive)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90600" y="48196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125855" y="4826318"/>
            <a:ext cx="3208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Doesn't read intent, only syntax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477000" y="2381250"/>
            <a:ext cx="4953000" cy="3810000"/>
          </a:xfrm>
          <a:prstGeom prst="roundRect">
            <a:avLst>
              <a:gd name="adj" fmla="val 2000"/>
            </a:avLst>
          </a:prstGeom>
          <a:solidFill>
            <a:srgbClr val="F3F4F6">
              <a:alpha val="6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6477000" y="2381250"/>
            <a:ext cx="38100" cy="38100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682740" y="2663190"/>
            <a:ext cx="11084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Mingjing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90360" y="3108960"/>
            <a:ext cx="218617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Trajectory-aware review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705600" y="35623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840855" y="3569018"/>
            <a:ext cx="45494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Reads PR + 6-week commit lineage + open issues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705600" y="39814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840855" y="3988118"/>
            <a:ext cx="50620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Detects 'this fix breaks the contract from PR #441'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705600" y="44005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840855" y="4407218"/>
            <a:ext cx="30213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11% false positive in closed beta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705600" y="4819650"/>
            <a:ext cx="57150" cy="571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40855" y="4826318"/>
            <a:ext cx="45099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Suggestions are diff-shaped, not text-shaped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2043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CLOSED BETA · Q1 + Q2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5805" y="1406842"/>
            <a:ext cx="293509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Beta numbers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620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77265" y="2648902"/>
            <a:ext cx="137617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Engineering teams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690" y="2929890"/>
            <a:ext cx="79230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187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5360" y="3737610"/>
            <a:ext cx="7849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+38 / 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13265" y="37618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ahead of plan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942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3942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609465" y="2648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PRs reviewed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0890" y="2929890"/>
            <a:ext cx="162731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41,288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7560" y="3737610"/>
            <a:ext cx="821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+12% WoW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2425" y="37618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compounding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26400" y="23812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026400" y="23812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41665" y="2648902"/>
            <a:ext cx="14758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False-positive rate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13090" y="2929890"/>
            <a:ext cx="38745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11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31250" y="31242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39760" y="373761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F4444"/>
                </a:solidFill>
                <a:latin typeface="Inter"/>
                <a:ea typeface="Microsoft YaHei"/>
                <a:cs typeface="Inter"/>
              </a:rPr>
              <a:t>-9pp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56306" y="3761899"/>
            <a:ext cx="9574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vs SonarQube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77265" y="4592002"/>
            <a:ext cx="11461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Time-to-merge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8690" y="4872990"/>
            <a:ext cx="918824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−34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14500" y="50673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5360" y="5680710"/>
            <a:ext cx="6285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median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77987" y="57049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team-reported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3942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43942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609465" y="459200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NPS (technical leads)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808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67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07560" y="5680710"/>
            <a:ext cx="2329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+8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916023" y="5704999"/>
            <a:ext cx="6655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elite tier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26400" y="4324350"/>
            <a:ext cx="3403600" cy="1714500"/>
          </a:xfrm>
          <a:prstGeom prst="roundRect">
            <a:avLst>
              <a:gd name="adj" fmla="val 4444"/>
            </a:avLst>
          </a:prstGeom>
          <a:solidFill>
            <a:srgbClr val="F3F4F6">
              <a:alpha val="70000"/>
            </a:srgbClr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8026400" y="4324350"/>
            <a:ext cx="38100" cy="171450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41665" y="459200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Logo retention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13090" y="4872990"/>
            <a:ext cx="64049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94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31250" y="5067300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39760" y="5680710"/>
            <a:ext cx="4353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0B981"/>
                </a:solidFill>
                <a:latin typeface="Inter"/>
                <a:ea typeface="Microsoft YaHei"/>
                <a:cs typeface="Inter"/>
              </a:rPr>
              <a:t>+0pp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477024" y="57049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as planned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52500" y="381000"/>
            <a:ext cx="1646158" cy="304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-6978991" y="3121342"/>
            <a:ext cx="26149983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It caught a regression we would not have noticed for six weeks — and explained why, citing the PR that introduced the contract.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0" y="4953000"/>
            <a:ext cx="762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124" y="5267325"/>
            <a:ext cx="10677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Sara Chen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09518" y="5620702"/>
            <a:ext cx="23729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Principal Engineer · TerraForge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3419475"/>
            <a:ext cx="12192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143500" y="3419475"/>
            <a:ext cx="1905000" cy="19050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077039" y="1438275"/>
            <a:ext cx="2037921" cy="2133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0" b="1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093095" y="3930015"/>
            <a:ext cx="4005810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3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Getting started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318873" y="4600575"/>
            <a:ext cx="35542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Five minutes, three integrations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742950"/>
            <a:ext cx="571500" cy="571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8665" y="1124902"/>
            <a:ext cx="8624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QUICKSTART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995" y="1374458"/>
            <a:ext cx="9137392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From zero to first review in 5 minutes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2950" y="2028825"/>
            <a:ext cx="111452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Free tier covers personal repos and OSS up to 50 contributors. Paid plan starts at $99 / month / team.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27241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26795" y="2774632"/>
            <a:ext cx="366869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GitHub: install the Mingjing app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10" y="30708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1 click; works on public + private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33909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26795" y="3441382"/>
            <a:ext cx="38373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GitLab: webhook + project token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10" y="3737610"/>
            <a:ext cx="19671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self-hosted supported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40576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26795" y="4108132"/>
            <a:ext cx="7958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CLI (any Git host): `pip install mingjing-cli &amp;&amp; mingjing review HEAD`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2510" y="440436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for shops with custom Git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FFFF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0" y="571500"/>
            <a:ext cx="4572000" cy="4572000"/>
          </a:xfrm>
          <a:prstGeom prst="ellipse">
            <a:avLst/>
          </a:prstGeom>
          <a:noFill/>
          <a:ln w="19050">
            <a:solidFill>
              <a:srgbClr val="6366F1">
                <a:alpha val="4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4572000" y="1333500"/>
            <a:ext cx="3048000" cy="3048000"/>
          </a:xfrm>
          <a:prstGeom prst="ellipse">
            <a:avLst/>
          </a:prstGeom>
          <a:noFill/>
          <a:ln w="19050">
            <a:solidFill>
              <a:srgbClr val="6366F1">
                <a:alpha val="6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5334000" y="2095500"/>
            <a:ext cx="1524000" cy="15240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458718" y="2529840"/>
            <a:ext cx="527456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0F172A"/>
                </a:solidFill>
                <a:latin typeface="Inter"/>
                <a:ea typeface="Microsoft YaHei"/>
                <a:cs typeface="Inter"/>
              </a:rPr>
              <a:t>Mingjing is live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64005" y="3552825"/>
            <a:ext cx="90639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475569"/>
                </a:solidFill>
                <a:latin typeface="Inter"/>
                <a:ea typeface="Microsoft YaHei"/>
                <a:cs typeface="Inter"/>
              </a:rPr>
              <a:t>Free tier open. Three integrations supported. Paid plans live at mingjing.ai/pricing.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10638" y="4616768"/>
            <a:ext cx="23707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Try it: mingjing.ai/demo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2762" y="4921568"/>
            <a:ext cx="26664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Pricing: mingjing.ai/pricing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3895" y="5226368"/>
            <a:ext cx="28242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366F1"/>
                </a:solidFill>
                <a:latin typeface="Inter"/>
                <a:ea typeface="Microsoft YaHei"/>
                <a:cs typeface="Inter"/>
              </a:rPr>
              <a:t>Enterprise: hello@mingjing.ai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