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382000" y="-762000"/>
            <a:ext cx="4191000" cy="4191000"/>
          </a:xfrm>
          <a:prstGeom prst="ellipse">
            <a:avLst/>
          </a:prstGeom>
          <a:solidFill>
            <a:srgbClr val="00D9FF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381000" y="3619500"/>
            <a:ext cx="3429000" cy="3429000"/>
          </a:xfrm>
          <a:prstGeom prst="ellipse">
            <a:avLst/>
          </a:prstGeom>
          <a:solidFill>
            <a:srgbClr val="6366F1">
              <a:alpha val="1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108710"/>
            <a:ext cx="18969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Q3 2026 BOARD UPDATE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1040" y="2148840"/>
            <a:ext cx="15027783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Scaling the agent platform to 10× revenue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5330" y="3392805"/>
            <a:ext cx="899379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Three bets, one constraint, and a 90-day path to sign-off.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5905500"/>
            <a:ext cx="1066800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6760" y="6156960"/>
            <a:ext cx="18707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ZimaBlueAI · Strategy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52379" y="615696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May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6760" y="1108710"/>
            <a:ext cx="6088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AGENDA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8660" y="1451610"/>
            <a:ext cx="683732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Six items, 25 minutes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5330" y="253555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3985" y="2551748"/>
            <a:ext cx="31111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State of the platform</a:t>
            </a:r>
          </a:p>
        </p:txBody>
      </p:sp>
      <p:sp>
        <p:nvSpPr>
          <p:cNvPr id="8" name="Line 8"/>
          <p:cNvSpPr/>
          <p:nvPr/>
        </p:nvSpPr>
        <p:spPr>
          <a:xfrm>
            <a:off x="762000" y="29146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35330" y="30689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3985" y="3085148"/>
            <a:ext cx="210007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The three bets</a:t>
            </a:r>
          </a:p>
        </p:txBody>
      </p:sp>
      <p:sp>
        <p:nvSpPr>
          <p:cNvPr id="11" name="Line 11"/>
          <p:cNvSpPr/>
          <p:nvPr/>
        </p:nvSpPr>
        <p:spPr>
          <a:xfrm>
            <a:off x="762000" y="34480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35330" y="36023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03985" y="3618548"/>
            <a:ext cx="37803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Capital allocation tradeoff</a:t>
            </a:r>
          </a:p>
        </p:txBody>
      </p:sp>
      <p:sp>
        <p:nvSpPr>
          <p:cNvPr id="14" name="Line 14"/>
          <p:cNvSpPr/>
          <p:nvPr/>
        </p:nvSpPr>
        <p:spPr>
          <a:xfrm>
            <a:off x="762000" y="39814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35330" y="41357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3985" y="4151948"/>
            <a:ext cx="328198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Architecture readiness</a:t>
            </a:r>
          </a:p>
        </p:txBody>
      </p:sp>
      <p:sp>
        <p:nvSpPr>
          <p:cNvPr id="17" name="Line 17"/>
          <p:cNvSpPr/>
          <p:nvPr/>
        </p:nvSpPr>
        <p:spPr>
          <a:xfrm>
            <a:off x="762000" y="45148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35330" y="46691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3985" y="4685348"/>
            <a:ext cx="420757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Risks and what could go wrong</a:t>
            </a:r>
          </a:p>
        </p:txBody>
      </p:sp>
      <p:sp>
        <p:nvSpPr>
          <p:cNvPr id="20" name="Line 20"/>
          <p:cNvSpPr/>
          <p:nvPr/>
        </p:nvSpPr>
        <p:spPr>
          <a:xfrm>
            <a:off x="762000" y="5048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35330" y="52025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3985" y="5218748"/>
            <a:ext cx="227095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Decision and ask</a:t>
            </a:r>
          </a:p>
        </p:txBody>
      </p:sp>
      <p:sp>
        <p:nvSpPr>
          <p:cNvPr id="23" name="Line 23"/>
          <p:cNvSpPr/>
          <p:nvPr/>
        </p:nvSpPr>
        <p:spPr>
          <a:xfrm>
            <a:off x="762000" y="55816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3419475"/>
            <a:ext cx="1219200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143500" y="3419475"/>
            <a:ext cx="1905000" cy="190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278314" y="1438275"/>
            <a:ext cx="163537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34000" y="3930015"/>
            <a:ext cx="552400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State of the platform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45218" y="4600575"/>
            <a:ext cx="49015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What's working, what's flat, what's leaking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1124902"/>
            <a:ext cx="11614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QUARTERLY KPIS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5805" y="1406842"/>
            <a:ext cx="942535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Adoption up, ARPU flat, churn under control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812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3812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77265" y="2648902"/>
            <a:ext cx="14145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Active workspaces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8690" y="2929890"/>
            <a:ext cx="162731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12,847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5360" y="3737610"/>
            <a:ext cx="8677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+38% QoQ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13265" y="3761899"/>
            <a:ext cx="9361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ahead of plan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94200" y="23812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394200" y="23812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609465" y="264890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Avg revenue / user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80890" y="2929890"/>
            <a:ext cx="9188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$48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46700" y="3124200"/>
            <a:ext cx="443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/mo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07560" y="3737610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+1.2%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51944" y="3761899"/>
            <a:ext cx="7296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below plan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26400" y="23812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8026400" y="23812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41665" y="26489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Logo churn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13090" y="2929890"/>
            <a:ext cx="79230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2.1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78900" y="3124200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39760" y="3737610"/>
            <a:ext cx="637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4444"/>
                </a:solidFill>
                <a:latin typeface="Inter"/>
                <a:ea typeface="Microsoft YaHei"/>
                <a:cs typeface="Inter"/>
              </a:rPr>
              <a:t>-0.3pp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19743" y="3761899"/>
            <a:ext cx="6940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best ever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43243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62000" y="43243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77265" y="45920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NPS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8690" y="487299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62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5360" y="5680710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05825" y="5704999"/>
            <a:ext cx="8435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world-class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394200" y="43243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4394200" y="43243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609465" y="45920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Gross margin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80890" y="487299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71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099050" y="5067300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07560" y="5680710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+2pp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45466" y="5704999"/>
            <a:ext cx="9361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infra savings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026400" y="43243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8026400" y="43243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241665" y="45920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Cash runway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13090" y="487299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26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731250" y="5067300"/>
            <a:ext cx="3228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mo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39760" y="5680710"/>
            <a:ext cx="4721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+3mo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363105" y="5704999"/>
            <a:ext cx="850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post-bridge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3419475"/>
            <a:ext cx="1219200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143500" y="3419475"/>
            <a:ext cx="1905000" cy="190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77039" y="1438275"/>
            <a:ext cx="203792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32262" y="3930015"/>
            <a:ext cx="3727475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The three bets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28411" y="4600575"/>
            <a:ext cx="3335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Pick one. Resource it for real.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1124902"/>
            <a:ext cx="1406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STRATEGIC OPTIONS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1995" y="1374458"/>
            <a:ext cx="582842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Three doors, one budget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2950" y="2028825"/>
            <a:ext cx="13511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Each bet is real and defensible. The question is not which is best in isolation — it's which one we can resource to actually win.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27241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26795" y="2774632"/>
            <a:ext cx="46205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Bet A — Vertical depth (finance + legal)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2510" y="3070860"/>
            <a:ext cx="3377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highest ARPU lift but slowest GTM cycle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3390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26795" y="3441382"/>
            <a:ext cx="548811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Bet B — Horizontal breadth (more workspaces)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2510" y="3737610"/>
            <a:ext cx="31238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extends current curve; minimal risk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40576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26795" y="4108132"/>
            <a:ext cx="55724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Bet C — Platform play (open SDK + marketplace)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2510" y="4404360"/>
            <a:ext cx="35444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largest TAM, also largest engineering bill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112490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CAPITAL ALLOCATION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5805" y="1406842"/>
            <a:ext cx="72619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Bet A vs Bet C — the real tradeoff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81250"/>
            <a:ext cx="4953000" cy="3810000"/>
          </a:xfrm>
          <a:prstGeom prst="roundRect">
            <a:avLst>
              <a:gd name="adj" fmla="val 2000"/>
            </a:avLst>
          </a:prstGeom>
          <a:solidFill>
            <a:srgbClr val="141B2D">
              <a:alpha val="6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381250"/>
            <a:ext cx="38100" cy="38100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67740" y="2663190"/>
            <a:ext cx="29716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Bet A · Vertical depth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5360" y="3108960"/>
            <a:ext cx="20897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Finance + legal verticals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90600" y="35623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25855" y="3569018"/>
            <a:ext cx="2705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+25% ARPU within 2 quarters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90600" y="39814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25855" y="3988118"/>
            <a:ext cx="32678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Existing logos, no new acquisition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90600" y="44005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25855" y="4407218"/>
            <a:ext cx="35635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Eng team already has domain context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90600" y="48196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25855" y="4826318"/>
            <a:ext cx="39283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Risk: regulatory review on legal vertical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477000" y="2381250"/>
            <a:ext cx="4953000" cy="3810000"/>
          </a:xfrm>
          <a:prstGeom prst="roundRect">
            <a:avLst>
              <a:gd name="adj" fmla="val 2000"/>
            </a:avLst>
          </a:prstGeom>
          <a:solidFill>
            <a:srgbClr val="141B2D">
              <a:alpha val="6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477000" y="2381250"/>
            <a:ext cx="38100" cy="38100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82740" y="2663190"/>
            <a:ext cx="28750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Bet C · Platform play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90360" y="3108960"/>
            <a:ext cx="20459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Open SDK + marketplace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705600" y="35623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840855" y="3569018"/>
            <a:ext cx="31396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10× TAM in 18 months (best case)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705600" y="39814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840855" y="3988118"/>
            <a:ext cx="21538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Needs 8 net-new hires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705600" y="44005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840855" y="4407218"/>
            <a:ext cx="31199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Marketplace ops is a new muscle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705600" y="48196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40855" y="4826318"/>
            <a:ext cx="38987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Risk: 12-month investment before signal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52500" y="381000"/>
            <a:ext cx="1646158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5542955" y="3121342"/>
            <a:ext cx="2327790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We didn't lose because we picked the wrong bet — we lost because we hedged across two and couldn't fund either.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0" y="4953000"/>
            <a:ext cx="762000" cy="190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855607" y="5267325"/>
            <a:ext cx="24807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Board chair, last cycle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54241" y="5620702"/>
            <a:ext cx="14835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Post-mortem, FY24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810000" y="571500"/>
            <a:ext cx="4572000" cy="4572000"/>
          </a:xfrm>
          <a:prstGeom prst="ellipse">
            <a:avLst/>
          </a:prstGeom>
          <a:noFill/>
          <a:ln w="19050">
            <a:solidFill>
              <a:srgbClr val="00D9FF">
                <a:alpha val="40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4572000" y="1333500"/>
            <a:ext cx="3048000" cy="3048000"/>
          </a:xfrm>
          <a:prstGeom prst="ellipse">
            <a:avLst/>
          </a:prstGeom>
          <a:noFill/>
          <a:ln w="19050">
            <a:solidFill>
              <a:srgbClr val="00D9FF">
                <a:alpha val="60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5334000" y="2095500"/>
            <a:ext cx="1524000" cy="1524000"/>
          </a:xfrm>
          <a:prstGeom prst="ellipse">
            <a:avLst/>
          </a:prstGeom>
          <a:solidFill>
            <a:srgbClr val="00D9FF">
              <a:alpha val="15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538603" y="2529840"/>
            <a:ext cx="711479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Decision: ship Bet 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66937" y="3552825"/>
            <a:ext cx="40581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Hold Bet B. Reassess Bet C in Q1 2027.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66275" y="4616768"/>
            <a:ext cx="24594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strategy@zimablueai.com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27577" y="4921568"/>
            <a:ext cx="33368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decisions.zimablueai.com/q3-2026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