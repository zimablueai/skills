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306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RETROSPECTIVE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09484" y="1695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2026-05-13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165" y="1029652"/>
            <a:ext cx="8931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# RETRO-Q2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1495" y="1564958"/>
            <a:ext cx="1169761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Q2 2026 retrospective — three keepers, one drop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545" y="2393632"/>
            <a:ext cx="89462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Ship velocity hit plan; quality gates leaked. Two process changes proposed.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3238500"/>
            <a:ext cx="11049000" cy="104775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3238500"/>
            <a:ext cx="57150" cy="1047750"/>
          </a:xfrm>
          <a:prstGeom prst="rect">
            <a:avLst/>
          </a:prstGeom>
          <a:solidFill>
            <a:srgbClr val="FFB8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5820" y="3522345"/>
            <a:ext cx="5197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VERDICT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1055" y="3788092"/>
            <a:ext cx="112132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HOLD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30855" y="3759518"/>
            <a:ext cx="160048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Verdict: hold scope for Q3 (do NOT add new initiatives). Q2 quality leakage came from missing test gates, not from over-commitment. Fix the gate, keep the scope.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6096000"/>
            <a:ext cx="11049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9118" y="6371749"/>
            <a:ext cx="21963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ZimaBlueAI · biz-decision-stack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9686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OUTCOMES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274086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Q2 by the numbers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34540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Velocity green, quality amber, customer red.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13422" y="1911191"/>
            <a:ext cx="12861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Story points shipped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9610" y="2165985"/>
            <a:ext cx="7517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247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422" y="26255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240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924300" y="18669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3422" y="299704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+3%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053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053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447222" y="191119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P1 bugs in prod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23410" y="2165985"/>
            <a:ext cx="3170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11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47222" y="2625566"/>
            <a:ext cx="520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5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58100" y="18669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447222" y="2997041"/>
            <a:ext cx="11294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quality gate leaked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0391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0391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81022" y="1911191"/>
            <a:ext cx="8496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Customer NPS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57210" y="21659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47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81022" y="2625566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55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1391900" y="18669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181022" y="29970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−8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13422" y="3587591"/>
            <a:ext cx="1071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Deploy frequency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9610" y="3842385"/>
            <a:ext cx="7517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3.2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37310" y="40043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/d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3422" y="43019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3.0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924300" y="35433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13422" y="467344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good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3053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43053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447222" y="3587591"/>
            <a:ext cx="9951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Time to recover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423410" y="38423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42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61560" y="4004310"/>
            <a:ext cx="3108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min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47222" y="4301966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60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58100" y="35433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447222" y="467344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good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0391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0391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81022" y="3587591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Eng satisfaction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57210" y="3842385"/>
            <a:ext cx="7517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7.8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804910" y="4004310"/>
            <a:ext cx="2758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/10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81022" y="43019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7.5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1391900" y="35433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181022" y="467344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+0.3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25868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WHAT WORKED / DIDN'T / CHANGE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640407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What worked, what didn't, what we change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55473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Three keepers from Q2 — and the two specific changes we will make in Q3.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714500"/>
            <a:ext cx="3619500" cy="4572000"/>
          </a:xfrm>
          <a:prstGeom prst="roundRect">
            <a:avLst>
              <a:gd name="adj" fmla="val 526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28575" cy="4572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0570" y="1903095"/>
            <a:ext cx="5335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WORKED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24790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01065" y="2267902"/>
            <a:ext cx="20585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Daily async standup format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3922" y="2463641"/>
            <a:ext cx="15029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freed 4h/wk across team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72415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1065" y="2744152"/>
            <a:ext cx="26029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Pair on first PR of every initiative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3922" y="293989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caught 3 design issues early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20040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01065" y="3220402"/>
            <a:ext cx="17212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Customer call rotation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3922" y="3416141"/>
            <a:ext cx="19307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every engineer talked to 2 users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286250" y="1714500"/>
            <a:ext cx="3619500" cy="4572000"/>
          </a:xfrm>
          <a:prstGeom prst="roundRect">
            <a:avLst>
              <a:gd name="adj" fmla="val 526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286250" y="1714500"/>
            <a:ext cx="28575" cy="4572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465320" y="1903095"/>
            <a:ext cx="4438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F4444"/>
                </a:solidFill>
                <a:latin typeface="JetBrains Mono"/>
                <a:ea typeface="Microsoft YaHei"/>
                <a:cs typeface="JetBrains Mono"/>
              </a:rPr>
              <a:t>DIDN'T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476750" y="2247900"/>
            <a:ext cx="57150" cy="571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615815" y="2267902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Optional test gate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8672" y="2463641"/>
            <a:ext cx="23102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skipped under deadline pressure → 11 P1s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476750" y="2724150"/>
            <a:ext cx="57150" cy="571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615815" y="2744152"/>
            <a:ext cx="1774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Shared on-call calendar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18672" y="2939891"/>
            <a:ext cx="31537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two people on-call simultaneously, neither responded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476750" y="3200400"/>
            <a:ext cx="57150" cy="571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615815" y="3220402"/>
            <a:ext cx="1498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Late-Friday merges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18672" y="341614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5 of 11 P1s correlated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001000" y="1714500"/>
            <a:ext cx="3619500" cy="4572000"/>
          </a:xfrm>
          <a:prstGeom prst="roundRect">
            <a:avLst>
              <a:gd name="adj" fmla="val 526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001000" y="1714500"/>
            <a:ext cx="28575" cy="4572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180070" y="1903095"/>
            <a:ext cx="4783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CHANGE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191500" y="224790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330565" y="2267902"/>
            <a:ext cx="2856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Test gate becomes mandatory CI block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33422" y="2463641"/>
            <a:ext cx="10210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Q3 starting day 1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191500" y="272415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330565" y="2744152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Friday after 14:00 deploy freeze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33422" y="2939891"/>
            <a:ext cx="16475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with named on-call override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191500" y="3200400"/>
            <a:ext cx="57150" cy="571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330565" y="3220402"/>
            <a:ext cx="3852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On-call ownership tied to a single Slack user-group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33422" y="3416141"/>
            <a:ext cx="15210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no more parallel 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483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PROCESS CHANGES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71815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Two process changes, four owners, three weeks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905000"/>
            <a:ext cx="11049000" cy="342900"/>
          </a:xfrm>
          <a:prstGeom prst="rect">
            <a:avLst/>
          </a:prstGeom>
          <a:solidFill>
            <a:srgbClr val="16161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1522" y="2044541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#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3022" y="2044541"/>
            <a:ext cx="432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00022" y="2044541"/>
            <a:ext cx="4194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14522" y="2044541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DUE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11520" y="2044541"/>
            <a:ext cx="4384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STATUS</a:t>
            </a:r>
          </a:p>
        </p:txBody>
      </p:sp>
      <p:sp>
        <p:nvSpPr>
          <p:cNvPr id="14" name="Line 14"/>
          <p:cNvSpPr/>
          <p:nvPr/>
        </p:nvSpPr>
        <p:spPr>
          <a:xfrm>
            <a:off x="571500" y="22479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46760" y="2451735"/>
            <a:ext cx="186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9212" y="2412206"/>
            <a:ext cx="44484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Enforce test gate in CI (block merge on coverage &lt;70%)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97165" y="2467928"/>
            <a:ext cx="6630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DevTools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11665" y="246792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Jul 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38369" y="24760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20" name="Line 20"/>
          <p:cNvSpPr/>
          <p:nvPr/>
        </p:nvSpPr>
        <p:spPr>
          <a:xfrm>
            <a:off x="571500" y="27813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46760" y="29851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9212" y="2945606"/>
            <a:ext cx="26328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Friday after 14:00 deploy freeze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3022" y="3149441"/>
            <a:ext cx="20632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exception requires VP eng sign-off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97165" y="3001328"/>
            <a:ext cx="877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Release Eng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11665" y="300132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Jul 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38369" y="30094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27" name="Line 27"/>
          <p:cNvSpPr/>
          <p:nvPr/>
        </p:nvSpPr>
        <p:spPr>
          <a:xfrm>
            <a:off x="571500" y="3314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46760" y="35185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19212" y="3479006"/>
            <a:ext cx="34050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Migrate on-call to single Slack user-group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97165" y="35347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SRE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11665" y="3534728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Jun 15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38369" y="35428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33" name="Line 33"/>
          <p:cNvSpPr/>
          <p:nvPr/>
        </p:nvSpPr>
        <p:spPr>
          <a:xfrm>
            <a:off x="571500" y="3848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46760" y="40519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9212" y="4012406"/>
            <a:ext cx="38569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Reassess: do we keep or kill the bug-bash hour?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97165" y="4068128"/>
            <a:ext cx="2260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11665" y="4068128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Aug 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38369" y="40762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