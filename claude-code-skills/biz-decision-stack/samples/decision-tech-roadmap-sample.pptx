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12504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TECH ROADMAP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09484" y="1695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2026-05-13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8165" y="102965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# ROADMAP-FY27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1495" y="1564958"/>
            <a:ext cx="13219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Four-quarter platform roadmap with explicit Q3 freeze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0545" y="2393632"/>
            <a:ext cx="91028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Three architectural bets, one mandated freeze window, four named owners.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3238500"/>
            <a:ext cx="11049000" cy="1047750"/>
          </a:xfrm>
          <a:prstGeom prst="roundRect">
            <a:avLst>
              <a:gd name="adj" fmla="val 3636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3238500"/>
            <a:ext cx="57150" cy="104775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5820" y="3522345"/>
            <a:ext cx="5197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VERDICT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1055" y="3788092"/>
            <a:ext cx="64056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GO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30855" y="3759518"/>
            <a:ext cx="183117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Lock the four-phase architecture plan. Q3 has a hard merge-freeze 2026-09-15 → 2026-10-01 for the multi-tenant migration. Engineering capacity is 14 FTE — plan holds within 88% utilisation.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6096000"/>
            <a:ext cx="11049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59118" y="6371749"/>
            <a:ext cx="26947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Chief Architect · arch@zimablueai.com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03885" y="6371749"/>
            <a:ext cx="9289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ADR-FY27-001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19830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CAPACITY · CONSTRAINTS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8391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$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8185" y="741998"/>
            <a:ext cx="423605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What we're spending against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165" y="1201102"/>
            <a:ext cx="77479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Capacity, not roadmap items, is the binding constraint. These six numbers shape every decision below.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7145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7145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13422" y="1911191"/>
            <a:ext cx="8306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Eng FTE total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9610" y="2165985"/>
            <a:ext cx="42052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14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3422" y="2625566"/>
            <a:ext cx="5571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14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924300" y="18669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3422" y="299704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+2 hired Q1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05300" y="17145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305300" y="17145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447222" y="1911191"/>
            <a:ext cx="11342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Senior:Mid:Junior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23410" y="2165985"/>
            <a:ext cx="120722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4:7:3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58100" y="1866900"/>
            <a:ext cx="76200" cy="76200"/>
          </a:xfrm>
          <a:prstGeom prst="rect">
            <a:avLst/>
          </a:prstGeom>
          <a:solidFill>
            <a:srgbClr val="FFB80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447222" y="2997041"/>
            <a:ext cx="12559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1 senior departing Q4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039100" y="17145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8039100" y="17145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181022" y="1911191"/>
            <a:ext cx="11659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Runway after FY27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57210" y="2165985"/>
            <a:ext cx="42052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18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95360" y="2327910"/>
            <a:ext cx="2583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mo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81022" y="2625566"/>
            <a:ext cx="5571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12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1391900" y="18669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181022" y="2997041"/>
            <a:ext cx="8222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post Series-A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3909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571500" y="33909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13422" y="3587591"/>
            <a:ext cx="10014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Avg PR lead time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9610" y="3842385"/>
            <a:ext cx="42052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31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7760" y="4004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3422" y="4301966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24</a:t>
            </a:r>
          </a:p>
        </p:txBody>
      </p:sp>
      <p:sp>
        <p:nvSpPr>
          <p:cNvPr id="36" name="Rectangle 36"/>
          <p:cNvSpPr/>
          <p:nvPr/>
        </p:nvSpPr>
        <p:spPr>
          <a:xfrm>
            <a:off x="3924300" y="354330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13422" y="4673441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+ 4h vs Q1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305300" y="33909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4305300" y="33909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447222" y="3587591"/>
            <a:ext cx="7231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Bug backlog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423410" y="384238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47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447222" y="4301966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30</a:t>
            </a:r>
          </a:p>
        </p:txBody>
      </p:sp>
      <p:sp>
        <p:nvSpPr>
          <p:cNvPr id="43" name="Rectangle 43"/>
          <p:cNvSpPr/>
          <p:nvPr/>
        </p:nvSpPr>
        <p:spPr>
          <a:xfrm>
            <a:off x="7658100" y="354330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447222" y="4673441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see retro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039100" y="33909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8039100" y="33909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8181022" y="3587591"/>
            <a:ext cx="11469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Build success rate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157210" y="384238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94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595360" y="4004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81022" y="4301966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95</a:t>
            </a:r>
          </a:p>
        </p:txBody>
      </p:sp>
      <p:sp>
        <p:nvSpPr>
          <p:cNvPr id="51" name="Rectangle 51"/>
          <p:cNvSpPr/>
          <p:nvPr/>
        </p:nvSpPr>
        <p:spPr>
          <a:xfrm>
            <a:off x="11391900" y="3543300"/>
            <a:ext cx="76200" cy="76200"/>
          </a:xfrm>
          <a:prstGeom prst="rect">
            <a:avLst/>
          </a:prstGeom>
          <a:solidFill>
            <a:srgbClr val="FFB80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181022" y="467344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flaky 1.x suite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14839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FOUR-PHASE PLAN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8391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$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8185" y="741998"/>
            <a:ext cx="266610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Q3 → Q2 next year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165" y="1201102"/>
            <a:ext cx="7349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Each phase has a named owner (M. Wei / P. Singh / L. Park / J. Wu). Q3 freeze is non-negotiable.</a:t>
            </a:r>
          </a:p>
        </p:txBody>
      </p:sp>
      <p:sp>
        <p:nvSpPr>
          <p:cNvPr id="9" name="Line 9"/>
          <p:cNvSpPr/>
          <p:nvPr/>
        </p:nvSpPr>
        <p:spPr>
          <a:xfrm>
            <a:off x="571500" y="2286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262626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1381125" y="1905000"/>
            <a:ext cx="1143000" cy="762000"/>
          </a:xfrm>
          <a:prstGeom prst="roundRect">
            <a:avLst>
              <a:gd name="adj" fmla="val 250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1381125" y="1905000"/>
            <a:ext cx="28575" cy="762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65898" y="2044541"/>
            <a:ext cx="3625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Q3 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61135" y="2289810"/>
            <a:ext cx="6929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Jul–Sep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190625" y="3048000"/>
            <a:ext cx="1524000" cy="304800"/>
          </a:xfrm>
          <a:prstGeom prst="roundRect">
            <a:avLst>
              <a:gd name="adj" fmla="val 6250"/>
            </a:avLst>
          </a:prstGeom>
          <a:solidFill>
            <a:srgbClr val="10101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74445" y="3150870"/>
            <a:ext cx="150161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Multi-tenant migration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190625" y="3429000"/>
            <a:ext cx="1524000" cy="304800"/>
          </a:xfrm>
          <a:prstGeom prst="roundRect">
            <a:avLst>
              <a:gd name="adj" fmla="val 6250"/>
            </a:avLst>
          </a:prstGeom>
          <a:solidFill>
            <a:srgbClr val="10101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74445" y="3531870"/>
            <a:ext cx="16199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Merge freeze 09-15→10-01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190625" y="3810000"/>
            <a:ext cx="1524000" cy="304800"/>
          </a:xfrm>
          <a:prstGeom prst="roundRect">
            <a:avLst>
              <a:gd name="adj" fmla="val 6250"/>
            </a:avLst>
          </a:prstGeom>
          <a:solidFill>
            <a:srgbClr val="10101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74445" y="3912870"/>
            <a:ext cx="9692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Owner: M. Wei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143375" y="1905000"/>
            <a:ext cx="1143000" cy="762000"/>
          </a:xfrm>
          <a:prstGeom prst="roundRect">
            <a:avLst>
              <a:gd name="adj" fmla="val 250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143375" y="1905000"/>
            <a:ext cx="28575" cy="762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228148" y="2044541"/>
            <a:ext cx="3625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Q4 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23385" y="2289810"/>
            <a:ext cx="7757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Oct–Dec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952875" y="3048000"/>
            <a:ext cx="1524000" cy="304800"/>
          </a:xfrm>
          <a:prstGeom prst="roundRect">
            <a:avLst>
              <a:gd name="adj" fmla="val 6250"/>
            </a:avLst>
          </a:prstGeom>
          <a:solidFill>
            <a:srgbClr val="10101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036695" y="3150870"/>
            <a:ext cx="17645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Event-driven inbox rewrite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952875" y="3429000"/>
            <a:ext cx="1524000" cy="304800"/>
          </a:xfrm>
          <a:prstGeom prst="roundRect">
            <a:avLst>
              <a:gd name="adj" fmla="val 6250"/>
            </a:avLst>
          </a:prstGeom>
          <a:solidFill>
            <a:srgbClr val="10101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036695" y="3531870"/>
            <a:ext cx="12978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Search relevance v2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952875" y="3810000"/>
            <a:ext cx="1524000" cy="304800"/>
          </a:xfrm>
          <a:prstGeom prst="roundRect">
            <a:avLst>
              <a:gd name="adj" fmla="val 6250"/>
            </a:avLst>
          </a:prstGeom>
          <a:solidFill>
            <a:srgbClr val="10101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036695" y="3912870"/>
            <a:ext cx="10612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Owner: P. Singh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905625" y="1905000"/>
            <a:ext cx="1143000" cy="762000"/>
          </a:xfrm>
          <a:prstGeom prst="roundRect">
            <a:avLst>
              <a:gd name="adj" fmla="val 250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905625" y="1905000"/>
            <a:ext cx="28575" cy="762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990398" y="2044541"/>
            <a:ext cx="3309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Q1 27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985635" y="2289810"/>
            <a:ext cx="7757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Jan–Mar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715125" y="3048000"/>
            <a:ext cx="1524000" cy="304800"/>
          </a:xfrm>
          <a:prstGeom prst="roundRect">
            <a:avLst>
              <a:gd name="adj" fmla="val 6250"/>
            </a:avLst>
          </a:prstGeom>
          <a:solidFill>
            <a:srgbClr val="10101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798945" y="3150870"/>
            <a:ext cx="7786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Open SDK GA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715125" y="3429000"/>
            <a:ext cx="1524000" cy="304800"/>
          </a:xfrm>
          <a:prstGeom prst="roundRect">
            <a:avLst>
              <a:gd name="adj" fmla="val 6250"/>
            </a:avLst>
          </a:prstGeom>
          <a:solidFill>
            <a:srgbClr val="10101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798945" y="3531870"/>
            <a:ext cx="12387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OAuth marketplace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715125" y="3810000"/>
            <a:ext cx="1524000" cy="304800"/>
          </a:xfrm>
          <a:prstGeom prst="roundRect">
            <a:avLst>
              <a:gd name="adj" fmla="val 6250"/>
            </a:avLst>
          </a:prstGeom>
          <a:solidFill>
            <a:srgbClr val="10101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798945" y="3912870"/>
            <a:ext cx="10218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Owner: L. Park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667875" y="1905000"/>
            <a:ext cx="1143000" cy="762000"/>
          </a:xfrm>
          <a:prstGeom prst="roundRect">
            <a:avLst>
              <a:gd name="adj" fmla="val 250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9667875" y="1905000"/>
            <a:ext cx="28575" cy="762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752648" y="2044541"/>
            <a:ext cx="3625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Q2 27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747885" y="2289810"/>
            <a:ext cx="7389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Apr–Jun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477375" y="3048000"/>
            <a:ext cx="1524000" cy="304800"/>
          </a:xfrm>
          <a:prstGeom prst="roundRect">
            <a:avLst>
              <a:gd name="adj" fmla="val 6250"/>
            </a:avLst>
          </a:prstGeom>
          <a:solidFill>
            <a:srgbClr val="10101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561195" y="3150870"/>
            <a:ext cx="10481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EU region launch</a:t>
            </a:r>
          </a:p>
        </p:txBody>
      </p:sp>
      <p:sp>
        <p:nvSpPr>
          <p:cNvPr id="46" name="Rectangle 46"/>
          <p:cNvSpPr/>
          <p:nvPr/>
        </p:nvSpPr>
        <p:spPr>
          <a:xfrm>
            <a:off x="9477375" y="3429000"/>
            <a:ext cx="1524000" cy="304800"/>
          </a:xfrm>
          <a:prstGeom prst="roundRect">
            <a:avLst>
              <a:gd name="adj" fmla="val 6250"/>
            </a:avLst>
          </a:prstGeom>
          <a:solidFill>
            <a:srgbClr val="10101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561195" y="3531870"/>
            <a:ext cx="11927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SOC 2 Type II audit</a:t>
            </a:r>
          </a:p>
        </p:txBody>
      </p:sp>
      <p:sp>
        <p:nvSpPr>
          <p:cNvPr id="48" name="Rectangle 48"/>
          <p:cNvSpPr/>
          <p:nvPr/>
        </p:nvSpPr>
        <p:spPr>
          <a:xfrm>
            <a:off x="9477375" y="3810000"/>
            <a:ext cx="1524000" cy="304800"/>
          </a:xfrm>
          <a:prstGeom prst="roundRect">
            <a:avLst>
              <a:gd name="adj" fmla="val 6250"/>
            </a:avLst>
          </a:prstGeom>
          <a:solidFill>
            <a:srgbClr val="10101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561195" y="3912870"/>
            <a:ext cx="9035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Owner: J. Wu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16690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RISKS · MITIGATIONS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8391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$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8185" y="741998"/>
            <a:ext cx="377254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Five risks worth tracking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165" y="1201102"/>
            <a:ext cx="49416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Every risk has a named owner and a due date — no "team" entries.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714500"/>
            <a:ext cx="5429250" cy="4572000"/>
          </a:xfrm>
          <a:prstGeom prst="roundRect">
            <a:avLst>
              <a:gd name="adj" fmla="val 417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714500"/>
            <a:ext cx="28575" cy="45720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50570" y="1903095"/>
            <a:ext cx="367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EF4444"/>
                </a:solidFill>
                <a:latin typeface="JetBrains Mono"/>
                <a:ea typeface="Microsoft YaHei"/>
                <a:cs typeface="JetBrains Mono"/>
              </a:rPr>
              <a:t>RISKS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222885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18210" y="2251710"/>
            <a:ext cx="22019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Senior departure mid Q4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2020" y="2493645"/>
            <a:ext cx="19419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owner of inbox rewrite leaves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53067" y="2292191"/>
            <a:ext cx="267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HIGH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289560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8210" y="2918460"/>
            <a:ext cx="23307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Q3 freeze slips past 10-01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2020" y="3160395"/>
            <a:ext cx="22377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blocks event-driven rewrite start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53067" y="2958941"/>
            <a:ext cx="267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HIGH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56235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8210" y="3585210"/>
            <a:ext cx="21191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EU data residency in Q2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2020" y="3827145"/>
            <a:ext cx="18039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may require dedicated infra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65718" y="3625691"/>
            <a:ext cx="255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MED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422910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8210" y="4251960"/>
            <a:ext cx="24043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Build flakiness on 1.x suite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2020" y="4493895"/>
            <a:ext cx="16133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merge throughput at 87%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65718" y="4292441"/>
            <a:ext cx="255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MED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489585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8210" y="4918710"/>
            <a:ext cx="22755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SOC 2 evidence collection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2020" y="5160645"/>
            <a:ext cx="13110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estimate +3wk in Q2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40415" y="4959191"/>
            <a:ext cx="2803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LOW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191250" y="1714500"/>
            <a:ext cx="5429250" cy="4572000"/>
          </a:xfrm>
          <a:prstGeom prst="roundRect">
            <a:avLst>
              <a:gd name="adj" fmla="val 417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6191250" y="1714500"/>
            <a:ext cx="28575" cy="4572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370320" y="1903095"/>
            <a:ext cx="8095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MITIGATIONS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381750" y="222885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537960" y="2251710"/>
            <a:ext cx="38949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Knowledge-transfer plan + retention bonus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41770" y="2493645"/>
            <a:ext cx="10349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owner: P. Singh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24149" y="2292191"/>
            <a:ext cx="40682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Aug 30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381750" y="28956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537960" y="2918460"/>
            <a:ext cx="34533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Hard cut-over 10-01 with rollback gate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41770" y="316039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owner: M. Wei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24149" y="2958941"/>
            <a:ext cx="40682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Sep 28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381750" y="356235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537960" y="3585210"/>
            <a:ext cx="3287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Lock GCP-Frankfurt region by Mar 15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41770" y="3827145"/>
            <a:ext cx="9955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owner: L. Park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230475" y="362569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Mar 15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381750" y="42291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537960" y="4251960"/>
            <a:ext cx="29840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Migrate 1.x suite to Pytest in Q4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41770" y="4493895"/>
            <a:ext cx="10678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owner: DevTools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255778" y="4292441"/>
            <a:ext cx="3751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Dec 01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381750" y="489585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537960" y="4918710"/>
            <a:ext cx="44654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Engage Drata + evidence-collector subcontractor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41770" y="5160645"/>
            <a:ext cx="8772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owner: J. Wu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255778" y="4959191"/>
            <a:ext cx="3751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Apr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15000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BINDING DECISIONS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8391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$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8185" y="741998"/>
            <a:ext cx="643397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Five actions, four owners, one binding vote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165" y="1201102"/>
            <a:ext cx="55090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Approve item 1 today; items 2–5 unlock automatically with named owners.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905000"/>
            <a:ext cx="11049000" cy="342900"/>
          </a:xfrm>
          <a:prstGeom prst="rect">
            <a:avLst/>
          </a:prstGeom>
          <a:solidFill>
            <a:srgbClr val="1616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51522" y="2044541"/>
            <a:ext cx="905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#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3022" y="2044541"/>
            <a:ext cx="432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00022" y="2044541"/>
            <a:ext cx="4194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OWNER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14522" y="2044541"/>
            <a:ext cx="2297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DUE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11520" y="2044541"/>
            <a:ext cx="4384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STATUS</a:t>
            </a:r>
          </a:p>
        </p:txBody>
      </p:sp>
      <p:sp>
        <p:nvSpPr>
          <p:cNvPr id="15" name="Line 15"/>
          <p:cNvSpPr/>
          <p:nvPr/>
        </p:nvSpPr>
        <p:spPr>
          <a:xfrm>
            <a:off x="571500" y="22479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46760" y="2451735"/>
            <a:ext cx="186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9212" y="2412206"/>
            <a:ext cx="35940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Approve four-phase plan + Q3 freeze window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3022" y="2616041"/>
            <a:ext cx="15270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binding architecture vote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97165" y="2467928"/>
            <a:ext cx="14375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Engineering Council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11665" y="2467928"/>
            <a:ext cx="5250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May 20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38369" y="24760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  <p:sp>
        <p:nvSpPr>
          <p:cNvPr id="22" name="Line 22"/>
          <p:cNvSpPr/>
          <p:nvPr/>
        </p:nvSpPr>
        <p:spPr>
          <a:xfrm>
            <a:off x="571500" y="27813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46760" y="298513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9212" y="2945606"/>
            <a:ext cx="36679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Lock GCP region for EU residency requirement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97165" y="3001328"/>
            <a:ext cx="5787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L. Park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11665" y="3001328"/>
            <a:ext cx="4867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Mar 15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38369" y="30094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  <p:sp>
        <p:nvSpPr>
          <p:cNvPr id="28" name="Line 28"/>
          <p:cNvSpPr/>
          <p:nvPr/>
        </p:nvSpPr>
        <p:spPr>
          <a:xfrm>
            <a:off x="571500" y="33147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46760" y="351853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9212" y="3479006"/>
            <a:ext cx="26246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Migrate 1.x test suite to Pytest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97165" y="3534728"/>
            <a:ext cx="6630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DevTools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11665" y="3534728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Dec 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838369" y="35428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  <p:sp>
        <p:nvSpPr>
          <p:cNvPr id="34" name="Line 34"/>
          <p:cNvSpPr/>
          <p:nvPr/>
        </p:nvSpPr>
        <p:spPr>
          <a:xfrm>
            <a:off x="571500" y="3848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46760" y="405193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19212" y="4012406"/>
            <a:ext cx="35775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Engage Drata + evidence-collector for SOC 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97165" y="4068128"/>
            <a:ext cx="440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J. Wu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11665" y="4068128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Apr 15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838369" y="40762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  <p:sp>
        <p:nvSpPr>
          <p:cNvPr id="40" name="Line 40"/>
          <p:cNvSpPr/>
          <p:nvPr/>
        </p:nvSpPr>
        <p:spPr>
          <a:xfrm>
            <a:off x="571500" y="4381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746760" y="458533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19212" y="4545806"/>
            <a:ext cx="47441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Quarterly checkpoint review (every Mar / Jun / Sep / Dec)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797165" y="4601528"/>
            <a:ext cx="1176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Chief Architect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511665" y="4601528"/>
            <a:ext cx="5787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ongoing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838369" y="46096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