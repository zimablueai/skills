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7665" y="153352"/>
            <a:ext cx="10894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▍ BOARD BRIEF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09484" y="1695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2026-05-13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8165" y="1029652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# DEC-Q3-007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1495" y="1564958"/>
            <a:ext cx="1184253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Reallocate $4.2M from Bet C to Bet A this quarter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0545" y="2393632"/>
            <a:ext cx="1024751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Vertical depth in finance + legal returns capital in 2 quarters; platform play does not.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3238500"/>
            <a:ext cx="11049000" cy="1047750"/>
          </a:xfrm>
          <a:prstGeom prst="roundRect">
            <a:avLst>
              <a:gd name="adj" fmla="val 3636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3238500"/>
            <a:ext cx="57150" cy="104775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5820" y="3522345"/>
            <a:ext cx="5197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VERDICT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1055" y="3788092"/>
            <a:ext cx="64056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GO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30855" y="3759518"/>
            <a:ext cx="163499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Reallocate $4.2M of Q3 OpEx from Bet C (platform / SDK) into Bet A (finance + legal verticals). Hold Bet B at current run-rate. Reassess Bet C in Q1 2027 with new data.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6096000"/>
            <a:ext cx="11049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59118" y="6371749"/>
            <a:ext cx="23743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Strategy · binxiaofeng@gmail.com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63091" y="6371749"/>
            <a:ext cx="15697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DOC-Q3-strategy-007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7665" y="15335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▍ EVIDENCE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00079" y="169545"/>
            <a:ext cx="5223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Q3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8165" y="8391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$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8185" y="741998"/>
            <a:ext cx="354826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Six KPIs, one constraint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8165" y="1201102"/>
            <a:ext cx="66668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Adoption is healthy; ARPU is the constraint. The decision moves $4.2M to the ARPU lever.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7145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17145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3422" y="1911191"/>
            <a:ext cx="11659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Active workspaces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610" y="2165985"/>
            <a:ext cx="110370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12847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3422" y="2625566"/>
            <a:ext cx="7559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target 10000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924300" y="186690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13422" y="2997041"/>
            <a:ext cx="5691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+38% QoQ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305300" y="17145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4305300" y="17145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447222" y="1911191"/>
            <a:ext cx="2992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ARPU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23410" y="216598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48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61560" y="2327910"/>
            <a:ext cx="354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/mo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47222" y="2625566"/>
            <a:ext cx="587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target 60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58100" y="1866900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447222" y="2997041"/>
            <a:ext cx="8884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the constraint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039100" y="17145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039100" y="17145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181022" y="1911191"/>
            <a:ext cx="6851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Logo churn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57210" y="2165985"/>
            <a:ext cx="64825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2.1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04910" y="23279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181022" y="2625566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target 3.0</a:t>
            </a:r>
          </a:p>
        </p:txBody>
      </p:sp>
      <p:sp>
        <p:nvSpPr>
          <p:cNvPr id="31" name="Rectangle 31"/>
          <p:cNvSpPr/>
          <p:nvPr/>
        </p:nvSpPr>
        <p:spPr>
          <a:xfrm>
            <a:off x="11391900" y="186690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181022" y="2997041"/>
            <a:ext cx="587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best ever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33909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571500" y="33909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13422" y="3587591"/>
            <a:ext cx="2297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NPS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89610" y="384238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62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13422" y="4301966"/>
            <a:ext cx="587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target 55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924300" y="354330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13422" y="4673441"/>
            <a:ext cx="7137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world-class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305300" y="33909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4305300" y="33909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4447222" y="3587591"/>
            <a:ext cx="8180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Gross margin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423410" y="3842385"/>
            <a:ext cx="42052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71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861560" y="40043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447222" y="4301966"/>
            <a:ext cx="587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target 68</a:t>
            </a:r>
          </a:p>
        </p:txBody>
      </p:sp>
      <p:sp>
        <p:nvSpPr>
          <p:cNvPr id="46" name="Rectangle 46"/>
          <p:cNvSpPr/>
          <p:nvPr/>
        </p:nvSpPr>
        <p:spPr>
          <a:xfrm>
            <a:off x="7658100" y="354330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447222" y="4673441"/>
            <a:ext cx="7920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infra savings</a:t>
            </a:r>
          </a:p>
        </p:txBody>
      </p:sp>
      <p:sp>
        <p:nvSpPr>
          <p:cNvPr id="48" name="Rectangle 48"/>
          <p:cNvSpPr/>
          <p:nvPr/>
        </p:nvSpPr>
        <p:spPr>
          <a:xfrm>
            <a:off x="8039100" y="3390900"/>
            <a:ext cx="3581400" cy="1524000"/>
          </a:xfrm>
          <a:prstGeom prst="roundRect">
            <a:avLst>
              <a:gd name="adj" fmla="val 1250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8039100" y="3390900"/>
            <a:ext cx="28575" cy="1524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181022" y="3587591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Cash runway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57210" y="384238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26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595360" y="4004310"/>
            <a:ext cx="2583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mo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181022" y="4301966"/>
            <a:ext cx="5571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target 18</a:t>
            </a:r>
          </a:p>
        </p:txBody>
      </p:sp>
      <p:sp>
        <p:nvSpPr>
          <p:cNvPr id="54" name="Rectangle 54"/>
          <p:cNvSpPr/>
          <p:nvPr/>
        </p:nvSpPr>
        <p:spPr>
          <a:xfrm>
            <a:off x="11391900" y="354330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181022" y="4673441"/>
            <a:ext cx="7198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post-bridge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7665" y="153352"/>
            <a:ext cx="16207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▍ OPTIONS × CRITERIA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165" y="8391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$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8185" y="741998"/>
            <a:ext cx="37874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Three bets, four criteria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165" y="1201102"/>
            <a:ext cx="60994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Bet A is recommended; it scores well on payback period (the binding constraint).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1714500"/>
            <a:ext cx="11049000" cy="476250"/>
          </a:xfrm>
          <a:prstGeom prst="rect">
            <a:avLst/>
          </a:prstGeom>
          <a:solidFill>
            <a:srgbClr val="1616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50570" y="1922145"/>
            <a:ext cx="47141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Option</a:t>
            </a:r>
          </a:p>
        </p:txBody>
      </p:sp>
      <p:sp>
        <p:nvSpPr>
          <p:cNvPr id="11" name="Line 11"/>
          <p:cNvSpPr/>
          <p:nvPr/>
        </p:nvSpPr>
        <p:spPr>
          <a:xfrm>
            <a:off x="2667000" y="1714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277895" y="1922145"/>
            <a:ext cx="1016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Payback period</a:t>
            </a:r>
          </a:p>
        </p:txBody>
      </p:sp>
      <p:sp>
        <p:nvSpPr>
          <p:cNvPr id="13" name="Line 13"/>
          <p:cNvSpPr/>
          <p:nvPr/>
        </p:nvSpPr>
        <p:spPr>
          <a:xfrm>
            <a:off x="4905375" y="1714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723296" y="1922145"/>
            <a:ext cx="6025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ARPU lift</a:t>
            </a:r>
          </a:p>
        </p:txBody>
      </p:sp>
      <p:sp>
        <p:nvSpPr>
          <p:cNvPr id="15" name="Line 15"/>
          <p:cNvSpPr/>
          <p:nvPr/>
        </p:nvSpPr>
        <p:spPr>
          <a:xfrm>
            <a:off x="7143750" y="1714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771898" y="1922145"/>
            <a:ext cx="9820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Execution risk</a:t>
            </a:r>
          </a:p>
        </p:txBody>
      </p:sp>
      <p:sp>
        <p:nvSpPr>
          <p:cNvPr id="17" name="Line 17"/>
          <p:cNvSpPr/>
          <p:nvPr/>
        </p:nvSpPr>
        <p:spPr>
          <a:xfrm>
            <a:off x="9382125" y="1714500"/>
            <a:ext cx="9525" cy="4572000"/>
          </a:xfrm>
          <a:custGeom>
            <a:avLst/>
            <a:gdLst/>
            <a:ahLst/>
            <a:cxnLst/>
            <a:rect l="l" t="t" r="r" b="b"/>
            <a:pathLst>
              <a:path w="9525" h="4572000">
                <a:moveTo>
                  <a:pt x="0" y="0"/>
                </a:moveTo>
                <a:lnTo>
                  <a:pt x="0" y="457200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10048227" y="1922145"/>
            <a:ext cx="9061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Strategic fit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2190750"/>
            <a:ext cx="11049000" cy="1365250"/>
          </a:xfrm>
          <a:prstGeom prst="rect">
            <a:avLst/>
          </a:prstGeom>
          <a:solidFill>
            <a:srgbClr val="D4FF00">
              <a:alpha val="5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46760" y="2800985"/>
            <a:ext cx="19811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Bet A — Vertical depth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1522" y="3051016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Finance + legal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00762" y="2771458"/>
            <a:ext cx="37085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2Q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65803" y="3078162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payback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94856" y="2771458"/>
            <a:ext cx="4594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25%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85009" y="3078162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ARPU lift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82625" y="2771458"/>
            <a:ext cx="5606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LOW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09692" y="3078162"/>
            <a:ext cx="5064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exec risk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33652" y="2771458"/>
            <a:ext cx="53532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HIGH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415111" y="3078162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fit</a:t>
            </a:r>
          </a:p>
        </p:txBody>
      </p:sp>
      <p:sp>
        <p:nvSpPr>
          <p:cNvPr id="30" name="Line 30"/>
          <p:cNvSpPr/>
          <p:nvPr/>
        </p:nvSpPr>
        <p:spPr>
          <a:xfrm>
            <a:off x="571500" y="3556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46760" y="4166235"/>
            <a:ext cx="23859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Bet B — Horizontal breadth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1522" y="4416266"/>
            <a:ext cx="10330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More workspaces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32391" y="4136708"/>
            <a:ext cx="30759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1Q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565803" y="4443413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payback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864440" y="4136708"/>
            <a:ext cx="3202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5%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5009" y="4443413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ARPU lift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2625" y="4136708"/>
            <a:ext cx="5606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LOW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009692" y="4443413"/>
            <a:ext cx="5064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exec risk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246303" y="4136708"/>
            <a:ext cx="51001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MED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415111" y="4443413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fit</a:t>
            </a:r>
          </a:p>
        </p:txBody>
      </p:sp>
      <p:sp>
        <p:nvSpPr>
          <p:cNvPr id="41" name="Line 41"/>
          <p:cNvSpPr/>
          <p:nvPr/>
        </p:nvSpPr>
        <p:spPr>
          <a:xfrm>
            <a:off x="571500" y="4921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746760" y="5531485"/>
            <a:ext cx="19167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Bet C — Platform play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1522" y="5781516"/>
            <a:ext cx="14066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Open SDK + marketplace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531178" y="5501958"/>
            <a:ext cx="51001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4Q+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565803" y="5808662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payback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826485" y="5501958"/>
            <a:ext cx="3961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10×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587841" y="5808662"/>
            <a:ext cx="87344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ARPU lift (best)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95277" y="5501958"/>
            <a:ext cx="53532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HIGH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009692" y="5808662"/>
            <a:ext cx="5064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exec risk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246303" y="5501958"/>
            <a:ext cx="51001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MED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415111" y="5808662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fit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1714500"/>
            <a:ext cx="11049000" cy="4572000"/>
          </a:xfrm>
          <a:prstGeom prst="rect">
            <a:avLst/>
          </a:prstGeom>
          <a:noFill/>
          <a:ln w="9525">
            <a:solidFill>
              <a:srgbClr val="262626"/>
            </a:solidFill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7665" y="153352"/>
            <a:ext cx="16690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▍ RISKS &amp; MITIGATIONS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165" y="8391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$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8185" y="741998"/>
            <a:ext cx="401177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Three risks worth tracking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165" y="1201102"/>
            <a:ext cx="46502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All material risks have a named owner and a tracked due date.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1714500"/>
            <a:ext cx="5429250" cy="4572000"/>
          </a:xfrm>
          <a:prstGeom prst="roundRect">
            <a:avLst>
              <a:gd name="adj" fmla="val 417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714500"/>
            <a:ext cx="28575" cy="45720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50570" y="1903095"/>
            <a:ext cx="367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EF4444"/>
                </a:solidFill>
                <a:latin typeface="JetBrains Mono"/>
                <a:ea typeface="Microsoft YaHei"/>
                <a:cs typeface="JetBrains Mono"/>
              </a:rPr>
              <a:t>RISKS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2228850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18210" y="2251710"/>
            <a:ext cx="31496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Regulatory review on legal vertical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2020" y="2493645"/>
            <a:ext cx="18170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could delay GA by 2 quarters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65718" y="2292191"/>
            <a:ext cx="255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MED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62000" y="2895600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18210" y="2918460"/>
            <a:ext cx="31956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Bet C team retention if reallocated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2020" y="3160395"/>
            <a:ext cx="18433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2 senior engineers may leave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65718" y="2958941"/>
            <a:ext cx="255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MED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562350"/>
            <a:ext cx="762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8210" y="3585210"/>
            <a:ext cx="34809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Verticalization narrows TAM narrative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2020" y="3827145"/>
            <a:ext cx="14424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next fundraise harder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40415" y="3625691"/>
            <a:ext cx="2803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LOW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191250" y="1714500"/>
            <a:ext cx="5429250" cy="4572000"/>
          </a:xfrm>
          <a:prstGeom prst="roundRect">
            <a:avLst>
              <a:gd name="adj" fmla="val 417"/>
            </a:avLst>
          </a:prstGeom>
          <a:solidFill>
            <a:srgbClr val="161616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191250" y="1714500"/>
            <a:ext cx="28575" cy="45720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370320" y="1903095"/>
            <a:ext cx="8095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MITIGATIONS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381750" y="222885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537960" y="2251710"/>
            <a:ext cx="29012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Engage outside counsel by Jun 15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41770" y="249364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owner: M. Wei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55778" y="2292191"/>
            <a:ext cx="3751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Jun 15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381750" y="289560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537960" y="2918460"/>
            <a:ext cx="33520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Retention bonus + repurpose to Bet 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41770" y="3160395"/>
            <a:ext cx="10349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owner: P. Singh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87407" y="2958941"/>
            <a:ext cx="3435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Jul 01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381750" y="3562350"/>
            <a:ext cx="76200" cy="76200"/>
          </a:xfrm>
          <a:prstGeom prst="rect">
            <a:avLst/>
          </a:prstGeom>
          <a:solidFill>
            <a:srgbClr val="D4FF0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537960" y="3585210"/>
            <a:ext cx="28552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Pre-brief lead investor on logic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41770" y="3827145"/>
            <a:ext cx="7655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owner: CEO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198846" y="3625691"/>
            <a:ext cx="432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May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10101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67665" y="153352"/>
            <a:ext cx="17093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▍ DECISIONS &amp; ACTIONS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165" y="8391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$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8185" y="741998"/>
            <a:ext cx="312961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Five actions, one ask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165" y="1201102"/>
            <a:ext cx="40521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Approve item 1 today; items 2-5 unlock automatically.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1905000"/>
            <a:ext cx="11049000" cy="342900"/>
          </a:xfrm>
          <a:prstGeom prst="rect">
            <a:avLst/>
          </a:prstGeom>
          <a:solidFill>
            <a:srgbClr val="1616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51522" y="2044541"/>
            <a:ext cx="905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#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3022" y="2044541"/>
            <a:ext cx="432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ACTION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00022" y="2044541"/>
            <a:ext cx="4194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OWNER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14522" y="2044541"/>
            <a:ext cx="2297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DUE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11520" y="2044541"/>
            <a:ext cx="4384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STATUS</a:t>
            </a:r>
          </a:p>
        </p:txBody>
      </p:sp>
      <p:sp>
        <p:nvSpPr>
          <p:cNvPr id="15" name="Line 15"/>
          <p:cNvSpPr/>
          <p:nvPr/>
        </p:nvSpPr>
        <p:spPr>
          <a:xfrm>
            <a:off x="571500" y="22479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46760" y="2451735"/>
            <a:ext cx="186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19212" y="2412206"/>
            <a:ext cx="37994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Approve $4.2M reallocation from Bet C to Bet 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23022" y="2616041"/>
            <a:ext cx="10933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JetBrains Mono"/>
                <a:ea typeface="Microsoft YaHei"/>
                <a:cs typeface="JetBrains Mono"/>
              </a:rPr>
              <a:t>binding board vote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97165" y="2467928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Board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11665" y="2467928"/>
            <a:ext cx="4867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May 13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38369" y="2476024"/>
            <a:ext cx="413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FFB800"/>
                </a:solidFill>
                <a:latin typeface="JetBrains Mono"/>
                <a:ea typeface="Microsoft YaHei"/>
                <a:cs typeface="JetBrains Mono"/>
              </a:rPr>
              <a:t>TODO</a:t>
            </a:r>
          </a:p>
        </p:txBody>
      </p:sp>
      <p:sp>
        <p:nvSpPr>
          <p:cNvPr id="22" name="Line 22"/>
          <p:cNvSpPr/>
          <p:nvPr/>
        </p:nvSpPr>
        <p:spPr>
          <a:xfrm>
            <a:off x="571500" y="27813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46760" y="2985135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9212" y="2945606"/>
            <a:ext cx="40951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Engage outside counsel on legal vertical compliance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97165" y="3001328"/>
            <a:ext cx="5173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M. Wei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11665" y="3001328"/>
            <a:ext cx="456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Jun 15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38369" y="3009424"/>
            <a:ext cx="413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FFB800"/>
                </a:solidFill>
                <a:latin typeface="JetBrains Mono"/>
                <a:ea typeface="Microsoft YaHei"/>
                <a:cs typeface="JetBrains Mono"/>
              </a:rPr>
              <a:t>TODO</a:t>
            </a:r>
          </a:p>
        </p:txBody>
      </p:sp>
      <p:sp>
        <p:nvSpPr>
          <p:cNvPr id="28" name="Line 28"/>
          <p:cNvSpPr/>
          <p:nvPr/>
        </p:nvSpPr>
        <p:spPr>
          <a:xfrm>
            <a:off x="571500" y="33147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46760" y="3518535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19212" y="3479006"/>
            <a:ext cx="30846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Internal reorg: 4 engineers from C → 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97165" y="3534728"/>
            <a:ext cx="6247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P. Singh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11665" y="3534728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Jul 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838369" y="3542824"/>
            <a:ext cx="413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FFB800"/>
                </a:solidFill>
                <a:latin typeface="JetBrains Mono"/>
                <a:ea typeface="Microsoft YaHei"/>
                <a:cs typeface="JetBrains Mono"/>
              </a:rPr>
              <a:t>TODO</a:t>
            </a:r>
          </a:p>
        </p:txBody>
      </p:sp>
      <p:sp>
        <p:nvSpPr>
          <p:cNvPr id="34" name="Line 34"/>
          <p:cNvSpPr/>
          <p:nvPr/>
        </p:nvSpPr>
        <p:spPr>
          <a:xfrm>
            <a:off x="571500" y="3848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46760" y="4051935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04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19212" y="4012406"/>
            <a:ext cx="33229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Pre-brief lead investor on Bet C deferral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97165" y="4068128"/>
            <a:ext cx="3103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CEO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511665" y="4068128"/>
            <a:ext cx="5250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May 30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838369" y="4076224"/>
            <a:ext cx="413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FFB800"/>
                </a:solidFill>
                <a:latin typeface="JetBrains Mono"/>
                <a:ea typeface="Microsoft YaHei"/>
                <a:cs typeface="JetBrains Mono"/>
              </a:rPr>
              <a:t>TODO</a:t>
            </a:r>
          </a:p>
        </p:txBody>
      </p:sp>
      <p:sp>
        <p:nvSpPr>
          <p:cNvPr id="40" name="Line 40"/>
          <p:cNvSpPr/>
          <p:nvPr/>
        </p:nvSpPr>
        <p:spPr>
          <a:xfrm>
            <a:off x="571500" y="4381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62626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746760" y="4585335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FF00"/>
                </a:solidFill>
                <a:latin typeface="JetBrains Mono"/>
                <a:ea typeface="Microsoft YaHei"/>
                <a:cs typeface="JetBrains Mono"/>
              </a:rPr>
              <a:t>05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19212" y="4545806"/>
            <a:ext cx="28382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Reassessment checkpoint for Bet C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797165" y="4601528"/>
            <a:ext cx="7014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Strategy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511665" y="4601528"/>
            <a:ext cx="6630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5"/>
                </a:solidFill>
                <a:latin typeface="JetBrains Mono"/>
                <a:ea typeface="Microsoft YaHei"/>
                <a:cs typeface="JetBrains Mono"/>
              </a:rPr>
              <a:t>Jan 2027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838369" y="4609624"/>
            <a:ext cx="413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FFB800"/>
                </a:solidFill>
                <a:latin typeface="JetBrains Mono"/>
                <a:ea typeface="Microsoft YaHei"/>
                <a:cs typeface="JetBrains Mono"/>
              </a:rPr>
              <a:t>TODO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